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Joint Account Flow — KYC Basic — ID Upload Sequencing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200" i="1">
                <a:solidFill>
                  <a:srgbClr val="374151"/>
                </a:solidFill>
                <a:latin typeface="Calibri"/>
              </a:rPr>
              <a:t>For Alloy journey config: where the primary user and each co-holder upload their ID in a KYC Basic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669280" cy="4846320"/>
          </a:xfrm>
          <a:prstGeom prst="roundRect">
            <a:avLst>
              <a:gd name="adj" fmla="val 3000"/>
            </a:avLst>
          </a:prstGeom>
          <a:solidFill>
            <a:srgbClr val="F5F9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669280" cy="320040"/>
          </a:xfrm>
          <a:prstGeom prst="rect">
            <a:avLst/>
          </a:prstGeom>
          <a:noFill/>
        </p:spPr>
        <p:txBody>
          <a:bodyPr wrap="none" lIns="137160" tIns="0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PRIMARY USER — inside embedded 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0">
                <a:solidFill>
                  <a:srgbClr val="1E3A8A"/>
                </a:solidFill>
                <a:latin typeface="Calibri"/>
              </a:rPr>
              <a:t>Screen 5 · Step 1 — Identity info (name, DOB, SSN)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12848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0">
                <a:solidFill>
                  <a:srgbClr val="1E3A8A"/>
                </a:solidFill>
                <a:latin typeface="Calibri"/>
              </a:rPr>
              <a:t>Screen 6 · Step 2 —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79776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0">
                <a:solidFill>
                  <a:srgbClr val="1E3A8A"/>
                </a:solidFill>
                <a:latin typeface="Calibri"/>
              </a:rPr>
              <a:t>Screen 7 · Step 3 — Proof of address upload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46704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0">
                <a:solidFill>
                  <a:srgbClr val="1E3A8A"/>
                </a:solidFill>
                <a:latin typeface="Calibri"/>
              </a:rPr>
              <a:t>Screen 8a · Step 4 — Issuing country + document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913632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>
                <a:solidFill>
                  <a:srgbClr val="14532D"/>
                </a:solidFill>
                <a:latin typeface="Calibri"/>
              </a:rPr>
              <a:t>Screen 8b · Step 4 — PRIMARY ID UPLOAD (image(s))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480560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0">
                <a:solidFill>
                  <a:srgbClr val="1E3A8A"/>
                </a:solidFill>
                <a:latin typeface="Calibri"/>
              </a:rPr>
              <a:t>Screen 9 / 9a · Step 5 — Enter co-holder bio data (NO ID upload here)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047488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0">
                <a:solidFill>
                  <a:srgbClr val="1E3A8A"/>
                </a:solidFill>
                <a:latin typeface="Calibri"/>
              </a:rPr>
              <a:t>Screen 10 — Distribute co-holder verification links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2103120"/>
            <a:ext cx="0" cy="109728"/>
          </a:xfrm>
          <a:prstGeom prst="bentConnector3">
            <a:avLst/>
          </a:prstGeom>
          <a:ln w="15875">
            <a:solidFill>
              <a:srgbClr val="2563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0" y="2670048"/>
            <a:ext cx="0" cy="109728"/>
          </a:xfrm>
          <a:prstGeom prst="bentConnector3">
            <a:avLst/>
          </a:prstGeom>
          <a:ln w="15875">
            <a:solidFill>
              <a:srgbClr val="2563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0" y="3236976"/>
            <a:ext cx="0" cy="109728"/>
          </a:xfrm>
          <a:prstGeom prst="bentConnector3">
            <a:avLst/>
          </a:prstGeom>
          <a:ln w="15875">
            <a:solidFill>
              <a:srgbClr val="2563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0" y="3803904"/>
            <a:ext cx="0" cy="109728"/>
          </a:xfrm>
          <a:prstGeom prst="bentConnector3">
            <a:avLst/>
          </a:prstGeom>
          <a:ln w="15875">
            <a:solidFill>
              <a:srgbClr val="2563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0" y="4370832"/>
            <a:ext cx="0" cy="109728"/>
          </a:xfrm>
          <a:prstGeom prst="bentConnector3">
            <a:avLst/>
          </a:prstGeom>
          <a:ln w="15875">
            <a:solidFill>
              <a:srgbClr val="2563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0" y="4937760"/>
            <a:ext cx="0" cy="109728"/>
          </a:xfrm>
          <a:prstGeom prst="bentConnector3">
            <a:avLst/>
          </a:prstGeom>
          <a:ln w="15875">
            <a:solidFill>
              <a:srgbClr val="2563E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0" y="1188720"/>
            <a:ext cx="5394960" cy="484632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234440"/>
            <a:ext cx="5394960" cy="502920"/>
          </a:xfrm>
          <a:prstGeom prst="rect">
            <a:avLst/>
          </a:prstGeom>
          <a:noFill/>
        </p:spPr>
        <p:txBody>
          <a:bodyPr wrap="square" lIns="137160" tIns="0">
            <a:spAutoFit/>
          </a:bodyPr>
          <a:lstStyle/>
          <a:p>
            <a:pPr algn="l"/>
            <a:r>
              <a:rPr sz="1200" b="1">
                <a:solidFill>
                  <a:srgbClr val="78350F"/>
                </a:solidFill>
                <a:latin typeface="Calibri"/>
              </a:rPr>
              <a:t>EACH CO-HOLDER — standalone token-authenticated link</a:t>
            </a:r>
          </a:p>
          <a:p>
            <a:pPr algn="l"/>
            <a:r>
              <a:rPr sz="900" i="1">
                <a:solidFill>
                  <a:srgbClr val="78350F"/>
                </a:solidFill>
                <a:latin typeface="Calibri"/>
              </a:rPr>
              <a:t>(repeats independently for each co-holder, 1–4 times)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1828800"/>
            <a:ext cx="1600200" cy="6858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1">
                <a:solidFill>
                  <a:srgbClr val="78350F"/>
                </a:solidFill>
                <a:latin typeface="Calibri"/>
              </a:rPr>
              <a:t>Send to email</a:t>
            </a:r>
          </a:p>
          <a:p>
            <a:pPr algn="ctr"/>
            <a:r>
              <a:rPr sz="950" b="1">
                <a:solidFill>
                  <a:srgbClr val="78350F"/>
                </a:solidFill>
                <a:latin typeface="Calibri"/>
              </a:rPr>
              <a:t>(primary path)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828800"/>
            <a:ext cx="1600200" cy="6858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1">
                <a:solidFill>
                  <a:srgbClr val="78350F"/>
                </a:solidFill>
                <a:latin typeface="Calibri"/>
              </a:rPr>
              <a:t>Copy link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1828800"/>
            <a:ext cx="1600200" cy="68580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50" b="1">
                <a:solidFill>
                  <a:srgbClr val="374151"/>
                </a:solidFill>
                <a:latin typeface="Calibri"/>
              </a:rPr>
              <a:t>Verify now</a:t>
            </a:r>
          </a:p>
          <a:p>
            <a:pPr algn="ctr"/>
            <a:r>
              <a:rPr sz="950" b="1">
                <a:solidFill>
                  <a:srgbClr val="374151"/>
                </a:solidFill>
                <a:latin typeface="Calibri"/>
              </a:rPr>
              <a:t>(edge case)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2788920"/>
            <a:ext cx="4937760" cy="5029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>
                <a:solidFill>
                  <a:srgbClr val="78350F"/>
                </a:solidFill>
                <a:latin typeface="Calibri"/>
              </a:rPr>
              <a:t>Standalone page at {client}.interro.co</a:t>
            </a:r>
          </a:p>
          <a:p>
            <a:pPr algn="ctr"/>
            <a:r>
              <a:rPr sz="1000" b="0">
                <a:solidFill>
                  <a:srgbClr val="78350F"/>
                </a:solidFill>
                <a:latin typeface="Calibri"/>
              </a:rPr>
              <a:t>(token-authenticated, host-branded)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401568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>
                <a:solidFill>
                  <a:srgbClr val="78350F"/>
                </a:solidFill>
                <a:latin typeface="Calibri"/>
              </a:rPr>
              <a:t>Co-holder Screen 8a — Issuing country + document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3968496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14532D"/>
                </a:solidFill>
                <a:latin typeface="Calibri"/>
              </a:rPr>
              <a:t>Co-holder Screen 8b — CO-HOLDER ID UPLOAD (image(s))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535424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>
                <a:solidFill>
                  <a:srgbClr val="78350F"/>
                </a:solidFill>
                <a:latin typeface="Calibri"/>
              </a:rPr>
              <a:t>Co-holder submission → webhook to host + Interro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38060" y="2514600"/>
            <a:ext cx="1760220" cy="274320"/>
          </a:xfrm>
          <a:prstGeom prst="bentConnector3">
            <a:avLst/>
          </a:prstGeom>
          <a:ln w="15875">
            <a:solidFill>
              <a:srgbClr val="D9770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29700" y="2514600"/>
            <a:ext cx="68580" cy="274320"/>
          </a:xfrm>
          <a:prstGeom prst="bentConnector3">
            <a:avLst/>
          </a:prstGeom>
          <a:ln w="15875">
            <a:solidFill>
              <a:srgbClr val="D9770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098280" y="2514600"/>
            <a:ext cx="1623060" cy="274320"/>
          </a:xfrm>
          <a:prstGeom prst="bentConnector3">
            <a:avLst/>
          </a:prstGeom>
          <a:ln w="15875">
            <a:solidFill>
              <a:srgbClr val="D9770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98280" y="3291840"/>
            <a:ext cx="0" cy="109728"/>
          </a:xfrm>
          <a:prstGeom prst="bentConnector3">
            <a:avLst/>
          </a:prstGeom>
          <a:ln w="15875">
            <a:solidFill>
              <a:srgbClr val="D9770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98280" y="3858768"/>
            <a:ext cx="0" cy="109728"/>
          </a:xfrm>
          <a:prstGeom prst="bentConnector3">
            <a:avLst/>
          </a:prstGeom>
          <a:ln w="15875">
            <a:solidFill>
              <a:srgbClr val="D9770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098280" y="4425696"/>
            <a:ext cx="0" cy="109728"/>
          </a:xfrm>
          <a:prstGeom prst="bentConnector3">
            <a:avLst/>
          </a:prstGeom>
          <a:ln w="15875">
            <a:solidFill>
              <a:srgbClr val="D9770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</p:cNvCxnSpPr>
          <p:nvPr/>
        </p:nvCxnSpPr>
        <p:spPr>
          <a:xfrm flipV="1">
            <a:off x="5783580" y="5047488"/>
            <a:ext cx="617220" cy="246888"/>
          </a:xfrm>
          <a:prstGeom prst="bentConnector3">
            <a:avLst>
              <a:gd name="adj1" fmla="val 58431"/>
            </a:avLst>
          </a:prstGeom>
          <a:ln w="19050">
            <a:solidFill>
              <a:srgbClr val="37415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89320" y="3867912"/>
            <a:ext cx="457200" cy="54864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00" b="1">
                <a:solidFill>
                  <a:srgbClr val="4C1D95"/>
                </a:solidFill>
                <a:latin typeface="Calibri"/>
              </a:rPr>
              <a:t>Alloy</a:t>
            </a:r>
          </a:p>
          <a:p>
            <a:pPr algn="ctr"/>
            <a:r>
              <a:rPr sz="800" b="1">
                <a:solidFill>
                  <a:srgbClr val="4C1D95"/>
                </a:solidFill>
                <a:latin typeface="Calibri"/>
              </a:rPr>
              <a:t>app #1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67160" y="3913632"/>
            <a:ext cx="457200" cy="54864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750" b="1">
                <a:solidFill>
                  <a:srgbClr val="4C1D95"/>
                </a:solidFill>
                <a:latin typeface="Calibri"/>
              </a:rPr>
              <a:t>Alloy</a:t>
            </a:r>
          </a:p>
          <a:p>
            <a:pPr algn="ctr"/>
            <a:r>
              <a:rPr sz="750" b="1">
                <a:solidFill>
                  <a:srgbClr val="4C1D95"/>
                </a:solidFill>
                <a:latin typeface="Calibri"/>
              </a:rPr>
              <a:t>1 app per</a:t>
            </a:r>
          </a:p>
          <a:p>
            <a:pPr algn="ctr"/>
            <a:r>
              <a:rPr sz="750" b="1">
                <a:solidFill>
                  <a:srgbClr val="4C1D95"/>
                </a:solidFill>
                <a:latin typeface="Calibri"/>
              </a:rPr>
              <a:t>co-holder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806440" y="4142232"/>
            <a:ext cx="182880" cy="0"/>
          </a:xfrm>
          <a:prstGeom prst="bentConnector3">
            <a:avLst/>
          </a:prstGeom>
          <a:ln w="15875">
            <a:solidFill>
              <a:srgbClr val="7C3AE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1475720" y="4197096"/>
            <a:ext cx="91440" cy="0"/>
          </a:xfrm>
          <a:prstGeom prst="bentConnector3">
            <a:avLst/>
          </a:prstGeom>
          <a:ln w="15875">
            <a:solidFill>
              <a:srgbClr val="7C3AE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65760" y="6172200"/>
            <a:ext cx="114300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Calibri"/>
              </a:rPr>
              <a:t>Alloy config implications: </a:t>
            </a:r>
            <a:r>
              <a:rPr sz="1000">
                <a:solidFill>
                  <a:srgbClr val="374151"/>
                </a:solidFill>
                <a:latin typeface="Calibri"/>
              </a:rPr>
              <a:t>one journey, one application per holder (primary + each co-holder), keyed by person index and session ID. Applications arrive asynchronously (minutes to days apart). KYC Basic does NOT use Alloy SDK live capture — journey must accept pre-captured document images + biographical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255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Cesaratto</cp:lastModifiedBy>
  <cp:revision>2</cp:revision>
  <dcterms:created xsi:type="dcterms:W3CDTF">2013-01-27T09:14:16Z</dcterms:created>
  <dcterms:modified xsi:type="dcterms:W3CDTF">2026-04-21T20:24:30Z</dcterms:modified>
  <cp:category/>
</cp:coreProperties>
</file>